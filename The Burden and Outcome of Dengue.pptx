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95" r:id="rId3"/>
    <p:sldId id="325" r:id="rId4"/>
    <p:sldId id="332" r:id="rId5"/>
    <p:sldId id="326" r:id="rId6"/>
    <p:sldId id="331" r:id="rId7"/>
    <p:sldId id="327" r:id="rId8"/>
    <p:sldId id="328" r:id="rId9"/>
    <p:sldId id="329" r:id="rId10"/>
    <p:sldId id="330" r:id="rId11"/>
    <p:sldId id="3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5A3060-C0CD-4313-89CE-440C8B6EA0D9}">
          <p14:sldIdLst>
            <p14:sldId id="267"/>
            <p14:sldId id="295"/>
            <p14:sldId id="325"/>
            <p14:sldId id="332"/>
            <p14:sldId id="326"/>
            <p14:sldId id="331"/>
            <p14:sldId id="327"/>
            <p14:sldId id="328"/>
            <p14:sldId id="329"/>
            <p14:sldId id="330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7EC0-670A-4CB4-9A59-5A30CD695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20A80-7C49-42BE-8F62-17F6E1B76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4443C-702D-4E65-BB96-98284305C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A60D-7DD4-4496-A362-C3D9C07D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4AA71-9CAE-480D-9C3A-7F509FDA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7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260C-0F08-4554-9D0A-3B5A9990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DE3B-ED2C-4D63-ADBD-E4ECA5A33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F06A1-B079-4C6F-B577-AC60BEB0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2884F-AADA-4264-BCBE-5D04E16C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7191E-BF4C-4AFB-A3BB-D0B91886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9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BF81-CEEE-4445-A5FF-0191AAFA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3D5B8-3A48-47D8-A387-BE2B5D314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3158-4A70-4717-BE87-D6241D06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77DD1-FE8A-4B3D-90CA-4B1065BA6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EEC03-E08B-43AD-9215-1583427E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1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B65D-87AC-40FE-838E-97AAD53B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095B2-A2B9-42E2-8D37-AF8E10B01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A7247-AD96-4D86-A81C-2C7F73771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D857C-FE33-4CF4-9692-4085923E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3DA37-3EDC-40C7-B05A-94669A4B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DD733-10AE-4905-99FE-21CCC984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7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FACD-00BE-4529-B9E3-075FE7F5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F3708-E7ED-4CE8-9391-7B0EDF137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3F3DE-5E9A-4094-90E1-C9F152D0F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73818-46C4-4612-A76C-7B3849F01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541F7-62C2-4EE1-AB53-E2B4F52F7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20363-BFB0-45EC-8220-8A64C44F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08433-944E-4CB1-A67B-CAFE832A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3A878-0C20-472F-BB39-9EED5127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2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5C4F-860E-4A24-ACE4-6D7C962B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37882-F2A2-4D2F-A202-9A28AADC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5A37E-48D0-4AA7-B31A-9462D3ED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C54AE-82E9-475F-9F43-7404B065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0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E1869-9C11-4CC8-927E-B25330C7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D58D7-9774-4684-9641-F61FDAFD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8F51E-1368-4E6D-8B01-93FEB672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5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FEFA-8DC9-4C69-B72A-63742EAB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C1043-B562-4C2D-A23C-65933493A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87D06-9296-4271-8998-F0EA694E9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24CCB-6BB3-48D3-BA47-D9F3F13F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1661C-D999-4CFB-A469-34537FF3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CC2D6-475F-46D0-AB9A-B3E474E1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6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8E1C1-C1C2-4DB0-BC6B-AE54AF41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5FE88-3EE8-447D-AA45-86F51F4A1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567AB-AE50-4BE2-AC91-A59ED0FA1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63944-D2BC-47C0-B54F-127CDB81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2D36F-293E-4FD9-93D7-DEE24D46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2CB15-A48A-4B92-81E0-B023D917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2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979E-8481-4750-A1A2-E5DE28E2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BCFF4-3169-46A3-8AC9-40BBE34F8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99EC-44D0-4677-BFE9-8758C5609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7B61-F98F-4970-A0C8-A35CE256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43ED5-3963-4B89-86D1-2685CE9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EF69A-3AE3-484B-A610-0F39CD036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EECD6-1B08-4338-AB96-F34758E60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ADC92-7EDE-40D6-97C7-DE3F984D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031EA-136B-457B-97DB-EE4EA136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16DCA-9A08-449B-B649-6530ABB8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4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437A-78F1-4EFF-A85B-63274F66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A1B21-E1E0-48B2-A691-758F93E37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AE630-14E4-4388-9E85-ACFC7BA23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F7609-4253-432D-98F3-990DCA751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2D06-E591-45E6-A7F2-A01860227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9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E327B96-47C1-4442-86DD-78DB04766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1145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5880" y="2717412"/>
            <a:ext cx="92850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</a:rPr>
              <a:t>T</a:t>
            </a:r>
            <a:r>
              <a:rPr lang="en-US" sz="2800" b="1" u="sng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</a:rPr>
              <a:t>he Burden and Outcome of Dengue-Related Hospitalizations in the United States: An Exploratory Research Project on Dengue Fever </a:t>
            </a:r>
            <a:endParaRPr lang="en-GB" sz="2800" b="1" u="sng" dirty="0">
              <a:solidFill>
                <a:schemeClr val="bg1"/>
              </a:solidFill>
              <a:effectLst/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36523" y="5410036"/>
            <a:ext cx="8550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Moses Nyirongo and Bridget </a:t>
            </a:r>
            <a:r>
              <a:rPr lang="en-US" sz="24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Nyamekye</a:t>
            </a:r>
            <a:endParaRPr lang="en-US" sz="24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D38E8-AC8D-47B5-B8F6-6E3EF5930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658" y="175218"/>
            <a:ext cx="1880681" cy="1556681"/>
          </a:xfrm>
          <a:prstGeom prst="rect">
            <a:avLst/>
          </a:prstGeom>
          <a:effectLst>
            <a:softEdge rad="1143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C52359-3EC0-4AAE-9909-00D63CB22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4" y="331159"/>
            <a:ext cx="2597092" cy="2067494"/>
          </a:xfrm>
          <a:prstGeom prst="rect">
            <a:avLst/>
          </a:prstGeom>
          <a:effectLst>
            <a:softEdge rad="2032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794BF8-5ED0-436E-A4A5-9A932B3D9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449" y="151564"/>
            <a:ext cx="3171217" cy="2247089"/>
          </a:xfrm>
          <a:prstGeom prst="rect">
            <a:avLst/>
          </a:prstGeom>
          <a:effectLst>
            <a:softEdge rad="2032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B9F84E-BBF3-42B6-A88D-9E2A77BEA4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417" y="4365479"/>
            <a:ext cx="3210128" cy="2229447"/>
          </a:xfrm>
          <a:prstGeom prst="rect">
            <a:avLst/>
          </a:prstGeom>
          <a:effectLst>
            <a:softEdge rad="1397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8A763E-F295-43A5-8C9B-8680E64121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56" y="4587650"/>
            <a:ext cx="2855048" cy="2106435"/>
          </a:xfrm>
          <a:prstGeom prst="rect">
            <a:avLst/>
          </a:prstGeom>
          <a:effectLst>
            <a:softEdge rad="215900"/>
          </a:effectLst>
        </p:spPr>
      </p:pic>
    </p:spTree>
    <p:extLst>
      <p:ext uri="{BB962C8B-B14F-4D97-AF65-F5344CB8AC3E}">
        <p14:creationId xmlns:p14="http://schemas.microsoft.com/office/powerpoint/2010/main" val="28271611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100088">
        <p15:prstTrans prst="curtains"/>
      </p:transition>
    </mc:Choice>
    <mc:Fallback xmlns="">
      <p:transition spd="slow" advTm="100088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C0F9F2-4D13-4278-BE32-F83C5ECA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" y="-99391"/>
            <a:ext cx="12172544" cy="6867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41C815-034C-4731-8F6F-25F3EC514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FC8863-68A6-4FBF-A617-F9AE08BB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2199"/>
            <a:ext cx="10515600" cy="120033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EE6DD2-9C19-43B7-AC18-EAAA865E2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75682"/>
            <a:ext cx="6351162" cy="457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Impac</a:t>
            </a: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t on Population and Public Health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Challenges Associated wit</a:t>
            </a: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h Dengue Research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Related Work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Opportunities for Future Research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648312-92FB-4A94-89DD-120E2446C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1" y="635510"/>
            <a:ext cx="4850288" cy="5215211"/>
          </a:xfrm>
          <a:prstGeom prst="rect">
            <a:avLst/>
          </a:prstGeom>
          <a:effectLst>
            <a:softEdge rad="304800"/>
          </a:effectLst>
        </p:spPr>
      </p:pic>
    </p:spTree>
    <p:extLst>
      <p:ext uri="{BB962C8B-B14F-4D97-AF65-F5344CB8AC3E}">
        <p14:creationId xmlns:p14="http://schemas.microsoft.com/office/powerpoint/2010/main" val="383869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53"/>
    </mc:Choice>
    <mc:Fallback xmlns="">
      <p:transition spd="slow" advTm="4085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C31443-AED0-49D5-B195-A93287BF7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030"/>
            <a:ext cx="12182272" cy="695739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13A254A-F8B6-4D81-B98F-A59D18F1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4E6CEC-A557-4117-B307-F20CE0573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513"/>
            <a:ext cx="10515600" cy="436761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Dengue fever is a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mosquito-borne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viral disease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caused by the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dengue virus (DENV)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is transmitted primarily by </a:t>
            </a:r>
            <a:r>
              <a:rPr lang="en-US" sz="2400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Aedes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mosquitoes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represents a major global public health challenge, with approximately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390 million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infections annually (Bhatt </a:t>
            </a:r>
            <a:r>
              <a:rPr lang="en-US" sz="24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2013).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 infections are mild, but 5–10% progress to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severe dengue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which can lead to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significant morbidity and mortality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(WHO, 2024).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Dengue is increasingly recognized as an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emerging concern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United States due to factors such as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travel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climate change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the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geographic expansion of mosquito vectors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EF3EA-EC91-41A0-9BFC-D651676FC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216" y="313074"/>
            <a:ext cx="2744820" cy="1204439"/>
          </a:xfrm>
          <a:prstGeom prst="rect">
            <a:avLst/>
          </a:prstGeom>
          <a:effectLst>
            <a:softEdge rad="266700"/>
          </a:effectLst>
        </p:spPr>
      </p:pic>
    </p:spTree>
    <p:extLst>
      <p:ext uri="{BB962C8B-B14F-4D97-AF65-F5344CB8AC3E}">
        <p14:creationId xmlns:p14="http://schemas.microsoft.com/office/powerpoint/2010/main" val="3079250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BF2596-EF60-4E6C-BF5C-79CF16DE8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0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8CDA3B-77F5-4057-ABAA-C77203167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2A3E5E-DE55-4020-8FAA-4BF1C73C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Population and Public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9A69-CE35-44A7-B3C4-752857B7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 burden and outcomes of dengue-related hospitalizations in the United States remain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poorly characterized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particularly among high-risk populations such as older adults and individuals with comorbidities.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Regions such as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Florida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Texas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Puerto Rico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 particularly vulnerable due to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favorable environmental conditions.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burden imposed include: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contributes substantially to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morbidity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healthcare utilization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particularly in endemic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outbreaks result in considerable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economic costs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due to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hospitalization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vector control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productivity loss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 risk for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adverse outcomes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Vulnerable populations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including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older adults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individuals with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chronic diseases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(Guzman and Harris, 2015).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18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3780EF-680C-4711-9A49-701CE4770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4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40A75-5ADB-4615-BA03-7C54D64A5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5FC798-5A4C-4EE6-85B3-CD2CF3F6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7911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Associated with Dengue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765CE-EBC4-440F-BA7C-4DCF76A34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Underreporting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misdiagnosis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are common due to symptom overlap with other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febrile illnesses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(Roy and Bhattacharjee, 2021).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 is limited availability of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U.S.-specific data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dengue hospitalizations, with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 research focused on endemic countries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eliance on administrative data introduces challenges such as coding inaccuracies and misclassification when using ICD-10 diagnostic codes, which may affect the validity of epidemiological estimates.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Climate change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causes 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nvironmental unpredictability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expansion of mosquito vectors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into new regions complicates efforts to predict dengue transmission patterns (Messina </a:t>
            </a:r>
            <a:r>
              <a:rPr lang="en-US" sz="24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2019).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aps in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surveillance systems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integration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hinder real-time monitoring and response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24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2E0FA6-6D19-4A83-9504-EDC9583D6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5035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2983E-0D0A-4E13-8A89-5C22EE509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5E21-2A78-48D6-B5A3-7BA1A8886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Radke </a:t>
            </a:r>
            <a:r>
              <a:rPr lang="en-US" sz="20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(2012) documented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transmission in Florida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highlighting the potential for dengue emergence in the U.S.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Bhatt </a:t>
            </a:r>
            <a:r>
              <a:rPr lang="en-US" sz="20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(2013) provided one of the most comprehensive estimates of global dengue incidence, highlighting significant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underreporting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surveillance systems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Stanaway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(2016) quantified the global burden using disability-adjusted life years (DALYs), demonstrating a substantial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 in disease impact over time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Studies on dengue pathogenesis, such as Roy and Bhattacharjee (2021), have explored the biological mechanisms underlying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disease progression and severity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comprehensive studies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examining hospitalization outcomes at a national level in the United States are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lacking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Existing literature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not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adequately address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utilization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comorbidity profiles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inpatient outcomes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58E7F6-6E37-4D92-9A3E-E90E59962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821" y="0"/>
            <a:ext cx="2546215" cy="1828800"/>
          </a:xfrm>
          <a:prstGeom prst="rect">
            <a:avLst/>
          </a:prstGeom>
          <a:effectLst>
            <a:softEdge rad="215900"/>
          </a:effectLst>
        </p:spPr>
      </p:pic>
    </p:spTree>
    <p:extLst>
      <p:ext uri="{BB962C8B-B14F-4D97-AF65-F5344CB8AC3E}">
        <p14:creationId xmlns:p14="http://schemas.microsoft.com/office/powerpoint/2010/main" val="359293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F4D78C-7259-46B4-A70F-F5716E64D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C9241-9B93-4A1C-A087-B0D4A9E9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Future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EA5B-6A3F-4BCB-A9F6-FD364B043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nhancing dengue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surveillance systems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through improved data integration and real-time monitoring -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predictive analytics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offers opportunities for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early outbreak detection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Climate-based modeling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predict the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geographic expansion of dengue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(Ryan </a:t>
            </a:r>
            <a:r>
              <a:rPr lang="en-US" sz="24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2019).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U.S.-focused studies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evaluate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hospitalization patterns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comorbidity effects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regional variations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accine effectiveness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therapeutic interventions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particularly with emerging transmission in non-endemic regions.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479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32C015-52DD-443B-AF09-4FDA82703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164242-5C59-492C-8404-1FBA2814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FE148-9B1C-41E6-A995-CFE40718C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Dengue fever represents an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emerging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under-recognized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public health threat in the United States. While global research has extensively documented its burden, there remains a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significant gap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understanding its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the U.S. healthcare system.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societal factors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 to evolve, dengue is likely to pose an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increasing challenge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United States. A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multidisciplinary approach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epidemiology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informatics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will be essential for mitigating its impact and protecting population health.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8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F4BF20-266E-4224-8274-4B986D56B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EE0B5E-70A5-47D6-8C88-A7A4BE3E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347"/>
            <a:ext cx="10515600" cy="38059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A193A-E23E-44DA-9C2C-7A8A601CA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452"/>
            <a:ext cx="10515600" cy="553078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AHRQ (2024)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 and Utilization Project (HCUP)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Bhatt, S.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(2013) ‘The global distribution and burden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496(7446), pp. 504–507.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CDC (2024)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Dengue in the United States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Guzman, M.G. and Harris, E. (2015) ‘Dengue’,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Lancet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385(9966), pp. 453–465.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Messina, J.P.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 ‘The current and future global distribution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 Microbiology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4(9), pp. 1508–1515.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Radke, E.G.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(2012) ‘Dengue outbreak in Key West, Florida’,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Emerging Infectious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18(1), pp. 135–137.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Roy, S. and Bhattacharjee, B. (2021) ‘Dengue virus: epidemiology, biology and disease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aetiology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Clinical Virology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144.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Ryan, S.J.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 ‘Global expansion of Aedes-borne virus transmission risk’, </a:t>
            </a:r>
            <a:r>
              <a:rPr lang="en-US" sz="18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Neglected Tropical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13(3).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Shepard, D.S.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 ‘The global economic burden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Lancet Infectious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16(8), pp. 935–941.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Stanaway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J.D.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 ‘The global burden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Lancet Infectious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16(6), pp. 712–723.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(2024)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Dengue and severe dengue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08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944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Arial Rounded MT Bold</vt:lpstr>
      <vt:lpstr>Calibri</vt:lpstr>
      <vt:lpstr>Calibri Light</vt:lpstr>
      <vt:lpstr>Times New Roman</vt:lpstr>
      <vt:lpstr>Wingdings</vt:lpstr>
      <vt:lpstr>Office Theme</vt:lpstr>
      <vt:lpstr>PowerPoint Presentation</vt:lpstr>
      <vt:lpstr>Outline</vt:lpstr>
      <vt:lpstr>Introduction</vt:lpstr>
      <vt:lpstr>PowerPoint Presentation</vt:lpstr>
      <vt:lpstr>Impact on Population and Public Health</vt:lpstr>
      <vt:lpstr>PowerPoint Presentation</vt:lpstr>
      <vt:lpstr>Challenges Associated with Dengue Research</vt:lpstr>
      <vt:lpstr>Related Work</vt:lpstr>
      <vt:lpstr>Opportunities for Future Research</vt:lpstr>
      <vt:lpstr>Conclusion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Moses Nyirongo</dc:creator>
  <cp:lastModifiedBy>Moses Nyirongo</cp:lastModifiedBy>
  <cp:revision>34</cp:revision>
  <dcterms:created xsi:type="dcterms:W3CDTF">2026-04-13T22:20:45Z</dcterms:created>
  <dcterms:modified xsi:type="dcterms:W3CDTF">2026-04-14T03:06:15Z</dcterms:modified>
</cp:coreProperties>
</file>